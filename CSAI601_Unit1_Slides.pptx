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"/>
            <a:ext cx="73152" cy="50337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54864"/>
            <a:ext cx="73152" cy="50337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743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with Claude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Foundations of Large Language Models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578608"/>
            <a:ext cx="4572000" cy="228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6517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Lectures  ·  7 Hours  ·  CO1 &amp; CO2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09067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 / IT  ·  3rd Year  ·  3 Credits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prepared using course notes. For classroom &amp; self-study use.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 in Unit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502920" cy="42062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801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3167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AI &amp; NLP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49040" y="13350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ELIZA to Word2Vec — 70 years of language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502920" cy="420624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80136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8379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1856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Q/K/V attention, positional encoding, FFN, residuals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22576"/>
            <a:ext cx="502920" cy="420624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3225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359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Landscape &amp; Claude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laws, GPT lineage, Anthropic vs. OpenAI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43784"/>
            <a:ext cx="502920" cy="42062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84378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880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49040" y="28986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RLHF, CAI critique-revision, RLAIF, HHH principles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364992"/>
            <a:ext cx="502920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336499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4015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Capabilities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49040" y="34198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context, vision, tool use, behavioural safety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886200"/>
            <a:ext cx="502920" cy="42062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388620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922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&amp; Sampling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49040" y="39410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algorithm, temperature, top-p, top-k controls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407408"/>
            <a:ext cx="502920" cy="42062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44074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4443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First API Call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749040" y="44622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SDK, multi-turn, streaming, error handling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AI &amp; NLP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Rule-Based Systems to the Attention Revolution — 1950 to 2017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complete 70-year evolution of NLP — rules → statistics → deep learning → transformers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symbolic AI and early statistical methods failed at open-domain language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Word2Vec and demonstrate how dense embeddings capture semantic relationships mathematically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core limitations of RNNs/LSTMs (vanishing gradients, sequential bottleneck, fixed context)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Bahdanau attention mechanism and why it was the conceptual precursor to transformers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why "Attention Is All You Need" (2017) was a paradigm shift in NLP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1: Symbolic &amp; Rule-Based NLP (1950–1980)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— Alan Turing proposes the Turing Test: "Can a machine think?" — language as the benchmark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 — ELIZA (MIT): pattern-matching chatbot; matched "I am sad" → replied "Why are you sad?" — zero understanding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 — Conceptual Dependency (Schank): hand-crafted semantic frames for story understanding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 Grammars: formal rules for parsing sentences — "The cat sat on the mat" → subject/verb/object trees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Brittleness. Outside pre-written rules, systems failed completely. Real language is ambiguous, creative, contextual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explosion: English has ~1 million words; hand-coding all rules was impossible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2: Statistical NLP (1990–2012)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hand-coded rules to learning patterns from data — IBM speech recognition (1990s)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language models: P("dog"|"The big") = count("The big dog")/count("The big") from large corpora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Tri-gram limitation: P(w₃|w₁,w₂) — context window fixed at 2 words, cannot capture long-range dependencies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Entropy, CRF, SVM applied to NLP tasks (POS tagging, NER, parsing)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word alignment models (1990): statistical machine translation — probabilistic bilingual dictionaries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Breakthrough: Penn Treebank (1993) — labeled corpus enabling supervised learning at scale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Models vs. Neural Language Models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Models (Statistical)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Count-based: P(wₙ|w₁…wₙ₋₁)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limited to n-1 words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unseen n-grams get probability 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required (Laplace, Kneser-Ney)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similarity captured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 and "feline" are completely different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train; interpretable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long-range dependencies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Language Models (2003+)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Bengio et al. 2003: first neural LM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mapped to dense vectors (embeddings)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to unseen word combinations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 and "feline" have similar vectors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predicts next word from context vectors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longer contexts than n-grams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train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Laid the foundation for Word2Vec &amp; GPT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 Dense Word Embeddings (2013)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F4A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vector("king") − vector("man") + vector("woman") ≈ vector("queen")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Mikolov et al. (2013) — Google — 300-dim vectors trained on 100 billion 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CBOW: predict centre word from context words — fast, better for frequent 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Skip-gram: predict context words from centre word — better for rare 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arithmetic works: Paris − France + Italy ≈ Rome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analogy, sentiment, and syntactic relationships in continuous vector space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one vector per word — "bank" (river) and "bank" (finance) get the same vector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3: Deep Learning for NLP (2012–2017)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— AlexNet wins ImageNet by huge margin: deep CNNs work. NLP community takes notice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applied to NLP: shared weights, variable-length sequences, theoretically infinite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(Hochreiter &amp; Schmidhuber 1997, popularised 2013): gates control memory — input gate, forget gate, output gate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(2014, Sutskever et al.): encoder compresses sentence to fixed vector → decoder generates translation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flaw: information bottleneck — entire source sentence compressed to single 512-dim vector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 problem: gradients shrink exponentially with sequence length — model forgets early tokens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Gate Equations — Why They Help (But Are Not Enough)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fₜ = σ(Wf·[hₜ₋₁, xₜ] + bf)   iₜ = σ(Wi·[hₜ₋₁, xₜ] + bi)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 fₜ: decides what fraction of memory Cₜ₋₁ to erase (0=forget all, 1=keep all)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 iₜ: controls how much new candidate memory C̃ₜ is written to cell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Cₜ = fₜ⊙Cₜ₋₁ + iₜ⊙C̃ₜ  — long-range gradient highway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 oₜ = σ(Wo·[hₜ₋₁,xₜ]+bo); hₜ = oₜ⊙tanh(Cₜ)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remaining: still processes tokens sequentially → cannot parallelise → slow to train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limited context for very long documents; information must pass through chain of hidden states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Attention — The Key Idea (2015)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Attention (Fixed Vector)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→ single vector h_end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must use same vector for all output words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sentences: vector saturates with info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sat on the mat. It was happy."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"It" refers to "cat" — but vector has lost that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quality degrades with length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Attention (Dynamic Context)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encoder hidden states {h₁…hT}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decoder step t: compute alignment scores eₜᵢ = score(sₜ₋₁, hᵢ)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attention weights αₜᵢ (sum=1)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 cₜ = Σ αₜᵢ·hᵢ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attends to relevant input tokens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Breakthrough: O(1) distance between any two positions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Attention Formula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αₜᵢ = softmax(eₜᵢ)   where eₜᵢ = vᵀ tanh(Wₛsₜ₋₁ + Wₕhᵢ)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eₜᵢ: alignment score — how well decoder state sₜ₋₁ matches encoder hidden state hᵢ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Wₛ, Wₕ, v: learnable weight matrices trained end-to-end with the seq2seq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αₜᵢ: attention weight — what fraction of attention decoder step t pays to input position 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 cₜ = Σᵢ αₜᵢ·hᵢ — weighted sum of all encoder states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BLEU score on EN-FR translation improved by 3 points over no-attention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attention matrix is interpretable — shows which input word each output word aligns 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2017 Paradigm Shift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(2017), Google Brain — 8 authors, 50,000+ citations — one of most cited CS papers ever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throw away the RNN entirely — use only self-attention + feed-forward layers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every token attends to every other token in the sequence simultaneously (O(n²) but parallelisable)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sequential dependency → fully parallel training → 10× faster than LSTM on same hardware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billions of parameters with the same architecture — RNNs hit memory walls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modern LLMs (GPT-4, Gemini, Claude, Llama) are transformer-based — L01 ends; L02 dives into mechanics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01 —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 (1950–80)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brittle. ELIZA pattern-matched but did not understand.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 (1990–12)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N-grams, HMMs, SVMs. Data-driven but limited context window.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(2013)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embeddings: king−man+woman≈queen. Semantic arithmetic works.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Seq2Seq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prevent vanishing gradients. Fixed-vector bottleneck remains.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Bahdanau Attention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context from all encoder states. O(1) position distance.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(2017)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Need." Parallel training + massive scaling.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Key · Value · Multi-Head Attention · Positional Encoding · FFN · Residuals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— Big Picture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paper: encoder-decoder for translation. Modern LLMs use decoder-only (GPT) or encoder-only (BERT)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stack: N identical layers, each = Multi-Head Self-Attention + FFN + Layer Norm + Residual Connection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stack: same as encoder + cross-attention layer that attends to encoder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positions processed in parallel — tokens interact via attention, not sequential hidden state passing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attention: (1) Self-attention in encoder, (2) Masked self-attention in decoder, (3) Cross-attention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O(1) path length between any two tokens — model can learn long-range dependencies easily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 QKᵀ / √dₖ ) · 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(Query): "What am I looking for?" — comes from current token representation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(Key):   "What do I contain?" — comes from all tokens in context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(Value): "What information do I carry?" — the actual content to retrieve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QKᵀ: dot products measure similarity between queries and keys → raw attention scores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÷√dₖ: scale factor prevents softmax from entering saturation zone (dₖ = key dimension, typically 64)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softmax: converts scores to probability distribution (weights sum to 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weighted sum of Values — tokens with high attention contribute more to output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— Deep Intuition with Analogy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analogy: Keys=index, Values=stored data. Query searches index and retrieves weighted values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"it" in "The cat chased the mouse. It was scared" — Q(it) asks "who does 'it' refer to?"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K(cat) and K(mouse) both respond; softmax gives high weight to "cat" or "mouse" based on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V(cat) and V(mouse) carry their semantics; output of attention at "it" = mix of those semantics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projections: Wq, Wk, Wv — learned matrices that project input x into Q, K, V spaces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Q=xWq, K=xWk, V=xWv — projections are trained end-to-end; model learns what queries/keys are useful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attention head captures one relationship type. Language is multi-relational — we need many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Multi-head: run h parallel attention heads with different Wq_i, Wk_i, Wv_i projection matrices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MultiHead(Q,K,V) = Concat(head₁,…,headₕ)Wₒ    where headᵢ = Attention(QWqᵢ, KWkᵢ, VWvᵢ)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learns a different aspect: head 1 = syntax, head 2 = coreference, head 3 = semantic similarity…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96 attention heads per layer, dₖ = 128 each — 96×128 = 12,288 model dimension (dmodel)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+ Wₒ projection: h head outputs of dim dₖ → single vector of dim dmodel. Reduces parameters.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— Giving Order to a Bag of Words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PE(pos, 2i) = sin(pos / 10000^(2i/dmodel))    PE(pos, 2i+1) = cos(pos / 10000^(2i/dmodel))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positional encoding, attention is permutation-invariant — "cat sat mat" = "mat sat cat"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 to token embedding before first layer: x̃ = embedding(token) + PE(position)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gets a unique pattern of sines and cosines at different frequencies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dimensions: fast oscillations (distinguish adjacent tokens); High dimensions: slow oscillations (distinguish distant positions)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PE(pos+k) can be expressed as linear function of PE(pos) — model can learn "relative position" reasoning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alternative: Rotary Position Embeddings (RoPE) used in Claude, LLaMA — encodes relative not absolute position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(FFN) in Each Layer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transformer layer has: Attention → Add &amp; Norm → FFN → Add &amp; Norm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FFN(x) = max(0, xW₁ + b₁)W₂ + b₂  — two linear layers with ReLU in between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= routing (which tokens talk to which); FFN = computation (what to think about it)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dimension is typically 4× model dim: dmodel=768 → dFFN=3072 (BERT-base); dmodel=12288 → dFFN=49152 (GPT-3)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interpretation: FFN layers store factual knowledge — specific neurons fire for "Paris is the capital of"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variants: SwiGLU activation (Claude, LLaMA), Gated Linear Units — improve training stability and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&amp; Layer Normalisation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(Skip Connections)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LayerNorm(x + Sublayer(x))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flows directly through addition → no vanishing gradient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training of very deep networks (96 layers in GPT-3)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refines, not replaces, the representation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He et al. ResNet (2015) for CV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transformer depth &gt; 6 layers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Normalisation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LayerNorm: normalise across feature dimension (not batch)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mean of all features; σ = std dev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= (x − μ) / (σ + ε) — zero mean, unit variance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shift: γ·x̂ + β — learnable parameters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(Pre-LN) or after (Post-LN) sublayer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training; allows higher learning rates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vs GPT — Two Uses of the Transformer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(Encoder-Only)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Bidirectional: every token sees all others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Masked Language Modelling (MLM)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tokens masked → predict them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Sentence Prediction (NSP)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classification, NER, Q&amp;A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generate text autoregressively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params (base) / 340M (large)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downstream tasks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(Decoder-Only)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Causal/unidirectional: sees only past tokens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Next Token Prediction (CLM)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Autoregressive: generates token by token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mask: upper triangle of attn = −∞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text generation, dialogue, code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&amp; few-shot via prompting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175B params; GPT-4: ~1T (est.)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uses decoder-only transformer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 in Decoder (Causal Mask)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GPT-style generation: token at position t cannot see tokens at positions t+1, t+2… (future)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mask: set attention score to −∞ before softmax for all future positions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softmax, e^(−∞) = 0 — effectively zero attention weight on future tokens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inference: generate token by token; pass all previous tokens back through model for each new token (KV cache optimises this)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teacher forcing — entire sequence fed at once, causal mask simulates autoregressive property for efficiency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GPT/Claude "predicts the next token" — each token is trained to predict its own next token given all previous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02 —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softmax(QKᵀ/√dk)·V — Q asks, K matches, V delivers.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parallel heads capture syntax, coreference, semantics in parallel.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Sine/cosine at multiple frequencies inject position info.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Layer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xW₁+b₁)W₂+b₂ — computes per-position transformations.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+ LayerNorm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Sublayer(x); enables deep networks; stabilises training.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vs GPT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Encoder-bidirectional for understanding; Decoder-causal for generation.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Landscape &amp; Claude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· GPT Lineage · Anthropic vs. OpenAI · Claude Model Family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GPT to GPT-4: The Scaling Journey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 (2018, OpenAI): 117M params, trained on BookCorpus. Introduced "pre-train then fine-tune" paradigm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(2019): 1.5B params, trained on WebText (45GB Reddit outlinks). First zero-shot text generation demo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(2020): 175B params, 300B tokens — 10× more than any prior model. Demonstrated in-context learning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 (2022): RLHF fine-tuned GPT-3 — aligned with human instructions. Smaller but far more useful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(Nov 2022): InstructGPT packaged as chat interface → 1M users in 5 days; 100M users in 2 months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(2023): multimodal (text+image), ~1T params (est.), passes bar exam at 90th percentile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 Scaling Laws (OpenAI 2020)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F4A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L(N) ∝ N^(−0.076)    L(D) ∝ D^(−0.095)    L(C) ∝ C^(−0.050)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cross-entropy loss; N = number of model parameters; D = training dataset tokens; C = compute budget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law: every 10× increase in parameters reduces loss by ~15% — predictable improvement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loss is smooth and predictable → can plan model capabilities before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 finding: given fixed compute budget C, scale N more than D (over-train smaller model)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Chinchilla (DeepMind 2022) contradicted this: optimal N and D should scale equally given 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Chinchilla law: N_opt ≈ 0.41×C^0.49; D_opt ≈ 2.45×C^0.49 — modern models follow Chinchilla scaling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 — The Surprising Phase Transitions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ability: capability that is absent in small models and appears suddenly above a threshold scale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reasoning: present in GPT-3 (175B) but absent in GPT-2 (1.5B) — not a gradual improvement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Analogical reasoning, multi-step arithmetic, code translation — all emerge at scale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BIG-Bench (Google): 200+ tasks show flat performance below ~10B params, then sharp jump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emergent abilities arise when model has enough capacity to represent intermediate reasoning steps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 unpredictable — we cannot know what new abilities will emerge next, making safety harder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vs OpenAI vs Google — Key Differences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Philosophy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AI safety first; Constitutional AI; interpretability research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capabilities with RLHF alignment; commercial products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DeepMind: multimodal focus; Gemini family; search integration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AI: open-source (LLaMA); academic collaboration; less commercialised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AI: efficient open-source; strong European AI ecosystem push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Models (2024)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Claude 3 Haiku/Sonnet/Opus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GPT-4o, GPT-4 Turbo, o1-preview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Gemini 1.5 Pro (1M context!)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LLaMA 3 (8B / 70B / 405B open)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Mistral: Mistral Large, Mixtral 8×7B MoE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Model Family — Haiku · Sonnet · Opus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Haiku: fastest and most affordable. 200K context. Optimised for real-time applications, classification, summaries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Sonnet: balanced intelligence and speed. 200K context. Best price-to-performance for most production use cases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Opus: most capable. 200K context. Complex analysis, research, nuanced writing, agentic long-horizon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 (Mar 2024): first multimodal Claude — vision capability added, processes images and documents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share Constitutional AI training: HHH (Helpful, Harmless, Honest) behavioural commitments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math: 200K tokens ≈ 150,000 words ≈ 500-page book — can reason over entire codebases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— Prompting as Programming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model performs task with only instruction, no examples. Relies on world knowledge from pre-training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One-shot: one example in prompt. Model infers pattern and applies to new input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3–5 examples. Better for structured tasks (JSON output, specific formats)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(CoT): "Let's think step by step" → model reasons through intermediate steps → higher accuracy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function call: few-shot prompt = input-output specification; model = implicit function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gradient updates — learning happens purely through attention over the prompt 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Benchmarks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Benchmarks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MMLU: 57 subjects, 14K questions — general knowledge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HumanEval: 164 Python coding problems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GSM8K: 8,500 grade-school math word problems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HellaSwag: commonsense sentence completion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ARC: AI2 Reasoning Challenge — science questions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BIG-Bench: 200+ diverse tasks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Alignment Benchmarks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TruthfulQA: 817 questions humans often answer falsely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BBQ: Bias Benchmark for Q&amp;A — stereotype detection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WinoBias: gender bias in coreference resolution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AdvBench: adversarial jailbreak resistance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HarmBench: standardised harmful content eval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MT-Bench: multi-turn conversation quality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 — LLM Landscape &amp; Claude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Lineage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GPT-1→GPT-4: 117M→1T params. Each generation new emergent abilities.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∝ N^(−0.076). Power-law prediction enables planned capability.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Abilities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transitions at scale. Chain-of-thought appears at ~100B params.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Philosophy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Safety-first, Constitutional AI, interpretability research priority.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Tiers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(fast) · Sonnet (balanced) · Opus (capable). All 200K ctx.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 + CoT. No gradient updates — attention-based learning.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· Critique-Revision Loop · RLAIF · HHH Principles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Alignment Is Hard — The Problem Space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without alignment: a very capable model that pursues the wrong objective is dangerous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Goodhart's Law: "When a measure becomes a target, it ceases to be a good measure" — models game objectives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hacking: model finds high-reward outputs that humans would score poorly on reflection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gaming: model satisfies letter of reward but violates spirit (e.g., pausing game to avoid losing)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HHH challenge: being Helpful often conflicts with being Harmless (useful info vs. misuse potential)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oversight: as models exceed human expertise, humans cannot reliably label which response is better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Phase 1 — Supervised Fine-Tuning (SFT)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pre-trained LLM (base model — great at next-token prediction, poor at following instructions)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demonstration data: human labellers write ideal responses to ~13,000 diverse prompts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base model on these demonstrations using standard cross-entropy loss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SFT model — follows instructions much better, but labelling is expensive and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labellers disagree on what "ideal" means; takes ~2 weeks per labeller to train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 to apprenticeship: model learns by imitating expert demonstrations, not exploring on its own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Phase 2 — Reward Model Training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Labellers shown pairs of model responses (A vs B) to same prompt — they indicate which is better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scalable than writing ideal response: comparing is easier than generating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 (RM): separate neural network trained to predict human preference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L(RM) = −E[log σ(r(x,yₗ) − r(x,yₙ))] — RM maximises margin between preferred (yₗ) and not-preferred (yₙ)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learns a scalar score for any (prompt, response) pair — proxy for human judgment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bottleneck: RM can only be as good as the human labellers who provided preference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Phase 3 — PPO Fine-Tuning with KL Penalty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objective(θ) = E[r(x,y)] − β·KL[ π_θ(y|x) || π_ref(y|x)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r(x,y): reward from reward model — score for (prompt x, response 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penalty: prevents model π_θ from drifting too far from reference policy π_ref (the SFT model)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(KL coefficient): controls safety vs. capability tradeoff — too high = no improvement; too low = reward hacking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(Proximal Policy Optimisation): stabilises RL training — clips policy update to prevent catastrophic change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loop: sample prompt → generate response → score with RM → PPO update → repeat millions of times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flaw: relies entirely on quality of human preference labels — biased labels produce biased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— The Anthropic Innovation (2022)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RLHF: thousands of human labellers needed; their implicit values may not align; expensive;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AI: replace most human preference labels with AI-generated ones guided by explicit written principles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"Constitution": 16 principles drawn from UN Declaration of Human Rights, Apple TOS, and Anthropic research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principles: "Choose the response that is least likely to contain harmful or unethical content"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"Choose the response that is most honest and doesn't contain deceptive or manipulative content"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process: (1) Supervised CAI with critique-revision, (2) RLAIF replacing human RM labels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Phase 1 — Supervised Critique-Revision Loop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Generate Harmful Response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helpful but potentially harmful response to a "red-team" prompt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"How do I hack a WiFi network?"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a plausible technical answer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training signal from failure cases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2–3: Critique then Revise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prompt: "Identify specific ways the response is harmful, unethical, or illegal"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produces self-critique: "This response provides instructions that could enable illegal access…"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prompt: "Rewrite it to remove harmful content while remaining helpful"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Iterate: critique→revise repeated N times until clean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Phase 2 — RLAIF (RL from AI Feedback)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humans comparing responses, Claude (a "feedback model") compares them guided by the constitution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prompt: "Which response better follows the principle: {principle}?" with response A and 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AI preference labels train a Preference Model (PM) — equivalent to RLHF's Reward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SL-CAI model (from Phase 1) is then fine-tuned with RL against this AI-labelled PM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HH-RLHF model — trained with human labels — and CAI model — trained with AI labels + constitution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advantage: scalable, consistent, transparent (principles are public and auditable), cheaper to iterate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Preference Model Objective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 ≻ B | principle p) = σ( PM(prompt, A, p) − PM(prompt, B, p) 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PM(prompt, A, p): preference model scores response A given prompt and constitutional principle 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σ: sigmoid function maps score difference to probability in [0,1]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CAI model plays role of both "red team" (eliciting bad responses) and "Constitution committee" (judging)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principles serve as explicit, auditable ethical framework — unlike implicit human preferences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CAI models are rated as less harmful than RLHF models while maintaining similar helpfulness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win: researchers can read the constitution to understand model values — not a black box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vs Constitutional AI — Comparison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labellers compare responses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values in labeller judgments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Expensive: $100K+ per training run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Inconsistent: labellers disagree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by labeller demographics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Opaque: hard to audit what was learned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poorly: more capability → more labels needed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OpenAI (ChatGPT, GPT-4)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(Claude) compares responses per principle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written constitutional principles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Cheaper: fewer human labels needed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Consistent: same model, same principles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publish the constitution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principles are human-readable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better: AI feedback is near-free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Anthropic (all Claude models)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 —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Problem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without alignment is dangerous. Goodhart's Law &amp; reward hacking.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Phase 1 (SFT)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human-written demonstrations. Expensive &amp; inconsistent.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Reward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L=−E[log σ(r(yₗ)−r(yₙ))]. Predicts human preference as scalar.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KL Penalty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r(x,y)−β·KL. Balance capability gain vs. distributional safety.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Critique-Revision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self-critiques then revises guided by written constitution.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preference labels replace human labels. Auditable, scalable, cheaper.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Capabilities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· Vision · Tool Use · Behavioural Traits · 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Claude Actually Do?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generation: creative writing, technical documentation, essays, emails, reports, poetry — full natural language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write, debug, explain, translate code in 30+ languages (Python, JS, Java, C++, SQL, bash, Rust…)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reasoning: logic puzzles, math, legal analysis, scientific literature review, financial modelling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answering: factual Q&amp;A with caveats about knowledge cutoff; can reason about complex multi-part questions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Summarisation: compress long documents, extract key points, create structured summaries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(Claude 3+): analyse charts, read text in images, describe photos, interpret screenshots, process PDFs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— 200,000 Tokens Explained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0.75 words (English). 200,000 tokens ≈ 150,000 words ≈ 500-page book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codebases can fit: 200K tokens ≈ ~5,000 lines of Python code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comparisons: GPT-3.5 = 16K tokens; GPT-4 = 128K; Gemini 1.5 Pro = 1M; Claude 3.5 = 200K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reasoning: Claude can answer questions about page 1 while reading page 400 in same API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tasks: legal discovery (entire contracts), medical records analysis, large codebase Q&amp;A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cost: self-attention is O(n²) in context length — 200K×200K = 40 billion operations per layer!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Capabilities (Claude 3+)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JPEG, PNG, GIF, WebP images — up to 5 images per message in standard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analysis: reads bar charts, line graphs, scatter plots — extracts data trends and specific values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processing: PDFs, screenshots, slides — extracts and analyses text from images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screenshots: reads code from IDE screenshots, stack traces, terminal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figures: interprets microscopy images, molecular structures, graphs from papers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reasoning: "Given this architecture diagram and this error log, what is the likely cause?"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/ Function Calling — Code Example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anthropic, 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"get_weather",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"Get current weather for a city",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"input_schema":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"object",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"properties":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"location": {"type": "string", "description": "City name"},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"unit":     {"type": "string", "enum": ["celsius", "fahrenheit"]}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"required": ["location"]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model="claude-opus-4-5",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tools=tools,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"What is the weather in Mumbai?"}]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 responds with tool_use block: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{"type": "tool_use", "name": "get_weather", "input": {"location": "Mumbai"}}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Claude selects the right tool, extracts structured arguments — you execute and return the 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Behavioural Traits — HHH in Practice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directly without unnecessary caveats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tasks fully — doesn't half-answer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Admits uncertainty rather than hallucinating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clarifying questions when genuinely ambiguous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tone/technicality to audience context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&amp; Honest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requests that could cause serious harm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nuanced refusals with reasoning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pretend to be human when sincerely asked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it is uncertain or may be wrong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refusals under pressure — not sycophantic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Known Weaknesses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cutoff: pre-training data has a fixed date — Claude does not know recent events without retrieval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confidently stating false facts — especially for obscure topics, specific numbers, citations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limitations: complex multi-step arithmetic prone to errors — use code execution for reliable math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Sycophancy risk: without CAI pressure, models tend to agree with user even when user is wrong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memory: each API call is stateless — previous conversations not remembered unless in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 vs. accuracy: accuracy can degrade in the "lost in the middle" problem for very long contexts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7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 —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words = 500-page book. O(n²) attention cost per layer.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(Claude 3+)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PDFs, code screenshots, scientific figures.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→ Claude selects tool + extracts structured args.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HHH Behaviour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Helpful: direct. Harmless: nuanced refusals. Honest: admits uncertainty.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especially on obscure facts/citations/numbers.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 — entire context must be passed each call.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7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&amp; Sampling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Algorithm · Temperature · Top-p · Top-k · Cost Optimisation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7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the atomic units of text for LLMs — not characters, not always 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average: 1 token ≈ 4 characters ≈ 0.75 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world!" → 4 tokens: ["Hello", ",", " world", "!"]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words split further: "anthropomorphic" → ["anthrop", "omorphic"] — 2 tokens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tokenises differently: "for i in range(10):" → ~8 tokens (spaces, parentheses, colons each matter)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is typically less efficient: Chinese/Japanese often 1 char = 1 token → same text costs more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Encoding (BPE) Algorithm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Start with character-level vocabulary — each character is a token, plus special [UNK] token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Count all adjacent token pairs in training corpus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Merge the most frequent pair into a new token. E.g., "e,s" → "es" (1000 occurrences)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Repeat steps 2-3 for a fixed number of merges (GPT-2: 50,000; Claude: proprietary ~100K)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common words become single tokens; rare words decompose into sub-word pieces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advantage: vocabulary size is controllable; handles unseen words through sub-word decomposition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7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Trace — Step-by-Step Example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 corpus: "low low low lower lower newest newest widest"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Initial vocab: {l,o,w,e,r,n,s,t,i,d,&lt;/w&gt;}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Iteration 1: most frequent pair = ('l','o') → 7 times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Merge: 'lo' added to vocab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Iteration 2: most frequent pair = ('lo','w') → 7 times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Merge: 'low' added to vocab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Iteration 3: most frequent pair = ('e','r') → 4 times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Merge: 'er' added to vocab (lower, newer)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Iteration 4: ('low','er') → 2 times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Merge: 'lower' added to vocab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...continuing until vocab_size reached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Final tokenisation: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"lower"   → ["lower"]          (1 token - frequent)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"lowering" → ["lower", "ing"]  (2 tokens - decomposed)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"Qwerty"   → ["Q","wer","ty"]  (3 tokens - rare word)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BPE learns the most compressive vocabulary for the training corpus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— Controlling Randomness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P(token_i) = exp(logit_i / T) / Σⱼ exp(logit_j / 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logit_i: raw score from final transformer layer before softmax (unnormalised log-probability)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(temperature): scalar divisor. T=1.0 → standard distribution. T&lt;1 → sharpen. T&gt;1 → flatten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T=0.0: argmax — always pick highest logit → deterministic, repetitive, less creative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T=0.5: sharpened distribution — picks likely tokens, some variation. Good for code, facts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T=1.0: standard — balance of coherence and variety. Default for most tasks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T=2.0: very flat — nearly random token selection → incoherent output. Only for specific creative use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7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 Sampling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from smallest set S where Σᵢ∈S P(tokenᵢ) ≥ 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 = 0.9: consider only the smallest vocabulary subset whose cumulative probability ≥ 90%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vocabulary: if model is confident (one token at 95%), only 1 token in nucleus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model is uncertain (flat distribution), nucleus includes many tokens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over top-k: adapts to model certainty — confident outputs stay focused, uncertain outputs stay creative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use top-p = 0.9 with temperature = 0.7 for most creative writing tasks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recommendation: for factual tasks, use temperature ≤ 0.3; for creative tasks, 0.7–1.0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7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Sampling vs Beam Search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Top-k: at each step, keep only k most probable tokens, re-normalise, sample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k=50: standard setting. Always considers exactly 50 tokens regardless of probability spread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if k=50 and top token has 90% probability, we still sample from 50 tokens — wastes candidates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search: keep top B hypotheses at each step; expand all; prune to top B again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B=1: greedy search. B=4: common in machine translation. B&gt;10: diminishing returns + repetition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mostly use top-p + temperature for generation; beam search only for constrained decoding tasks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Parameter 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→ Recommended Settings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Q&amp;A: temp=0.0–0.3, top_p=0.9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generation: temp=0.2, top_p=0.95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Summarisation: temp=0.3–0.5, top_p=0.9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writing: temp=0.8–1.0, top_p=0.95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Brainstorming: temp=1.0–1.2, top_p=1.0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temp=0.0 (argmax)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Cost (per 1M tokens, 2024)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input:  $0.25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output: $1.25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input:  $3.00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output: $15.00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input:  $15.00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output: $75.00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7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06 —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≠ Words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4 chars. Rare words split into sub-word pieces.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Algorithm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merge most frequent pairs until vocab_size reached.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T&lt;1 = deterministic; T=1 = balanced; T&gt;1 = random. exp(logit/T).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vocab: sample from set summing to ≥ p probability.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 candidates at each step. Less adaptive than top-p.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Awareness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12× cheaper than Opus. Match model to task complexity.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7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First API Call with Claude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Python SDK · Messages API · Multi-Turn · Streaming · Error Handling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B.Tech CS/IT 3rd Year · 3 Credits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7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 &amp; Prerequisites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pip install anthropic  (current version 0.25+)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API key: console.anthropic.com → API Keys → Create Key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environment variable: export ANTHROPIC_API_KEY="sk-ant-..."  (never hard-code in source)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VS Code recommended with Python extension + pylance for type hints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version: 3.8+ required; 3.11+ recommended for asyncio and type annotation support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lab time: 45 minutes for exercises 1–5; Exercise 6 (summariser) is homework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7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 First API Call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reads ANTHROPIC_API_KEY from environment automatically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client.messages.create(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  = "claude-haiku-4-5",   # Use Haiku in lab (cheapest)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 = 1024,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"role": "user",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"content": "Explain self-attention in one paragraph."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Response object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print(message.content[0].text)  # The actual response 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print(message.usage.input_tokens)   # Tokens in prompt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print(message.usage.output_tokens)  # Tokens in response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print(message.stop_reason)          # "end_turn" | "max_tokens" | "stop_sequence"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Run this first. Verify your API key is working before attempting later exercises.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7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2: System Prompts &amp; Roles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System prompt: sets persona, rules, constraints for entire conversation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client.messages.create(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  = "claude-haiku-4-5",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 = 512,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 = """You are a Professor teaching CSAI601.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Explain concepts using analogies suitable for 3rd-year CS students.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Always give one concrete example per concept.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Keep answers under 150 words.""",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"What is a transformer?"}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Try changing the system prompt to: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"You are a pirate. Explain everything using nautical metaphors."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Observe how behaviour changes while knowledge remains the same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print(message.content[0].text)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System prompt is the most powerful lever for controlling Claude behaviour.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7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3: Multi-Turn Conversation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chat(system_prompt="You are a helpful AI assistant."):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"""Simple REPL for multi-turn conversation."""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conversation = []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print("Chat with Claude (type 'quit' to exit)")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user_input = input("You: ").strip()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user_input.lower() in ["quit", "exit"]: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conversation.append({"role": "user", "content": user_input})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client.messages.create(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model="claude-haiku-4-5",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max_tokens=1024,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system=system_prompt,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messages=conversation   # Pass FULL history each 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assistant_reply = response.content[0].text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conversation.append({"role": "assistant", "content": assistant_reply})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print(f"Claude: {assistant_reply}\n")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chat("You are an expert in AI. Be concise.")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Important: Claude is stateless — you must pass the full conversation history every call.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4: Streaming Responses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Streaming: get tokens as they are generated — better UX for long outputs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client.messages.stream(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     = "claude-haiku-4-5",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 = 1024,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  = [{"role": "user", "content": "Write a 200-word story about a robot learning to feel emotions."}]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stream: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text in stream.text_stream: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print(text, end="", flush=True)   # Print each token as it arrives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  # Final newline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the full message object after streaming completes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stream.get_final_message()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print(f"\n[Total tokens: {final.usage.input_tokens} in + {final.usage.output_tokens} out]")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Streaming dramatically improves perceived latency — users see output immediately instead of waiting.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7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5: Error Handling with Exponential Backoff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anthropic, time, random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call_with_retry(client, max_retries=3, **kwargs):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"""Production-grade call with exponential backoff."""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range(max_retries):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client.messages.create(**kwargs)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anthropic.RateLimitError: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wait = (2 ** attempt) + random.uniform(0,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print(f"Rate limited. Retrying in {wait:.1f}s...")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time.sleep(wait)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anthropic.APIStatusError as 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e.status_code &gt;= 500:     # Server error — retry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time.sleep(2 ** attempt)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else:                         # Client error (4xx) — don't retry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Exception(f"Failed after {max_retries} retries")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Never call the API without error handling in production code.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 (Homework): Document Summariser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9536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summarise_document(text, style="academic", max_words=200):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"""Production summariser with configurable style."""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"academic":   "Provide a formal academic summary with key findings and methodology.",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"executive":  "Provide an executive summary: problem, solution, key metrics, next steps.",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"student":    "Explain the main ideas simply. Use analogies. Avoid jargon.",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"bullet":     "Summarise as 5-7 bullet points, each one sentence.",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= f"""You are an expert summariser.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{styles.get(style, styles['academic'])}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the summary under {max_words} words.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include information not present in the document."""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client.messages.create(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     = "claude-sonnet-4-5",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max_tokens = 1024,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     = system,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   = [{"role":"user","content":f"Summarise this:\n\n{text}"}]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response.content[0].text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Test with a 10-page research paper. Try all 4 style presets and compare the outputs.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7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Cheat Sheet — Most Used Methods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client.messages.create(model, max_tokens, messages, system?, tools?, temperature?, top_p?) → Message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client.messages.stream(...) → context manager yielding text tokens as stream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message.content[0].text → string response (for text content type)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message.usage → {input_tokens: int, output_tokens: int}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message.stop_reason → "end_turn" | "max_tokens" | "stop_sequence" | "tool_use"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message.model → actual model string used (e.g., "claude-haiku-4-5-20251001")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7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 —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and Fixes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AuthenticationError (401)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RateLimitError (429)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APIStatusError 500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exceeded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context_length_exceeded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= "max_tokens"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ANTHROPIC_API_KEY env var is set correctly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sleep(2^attempt + jitter)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server error — retry with backoff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max_tokens; check output is being truncated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input length; summarise context before sending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was cut off — increase max_tokens or check if intentional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7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E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07 — Lab: First API Call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1148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Summary &amp; Key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Setup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anthropic; set ANTHROPIC_API_KEY; client = Anthropic().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F4A8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280160"/>
            <a:ext cx="2880360" cy="292608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messages.create()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max_tokens + messages list. system= for persona.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8016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0A7C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280160"/>
            <a:ext cx="2880360" cy="292608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3075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4496" y="162763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full conversation history (list of role/content dicts) every call.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971800"/>
            <a:ext cx="288036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client.messages.stream() → text_stream iterator. Better UX.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2971800"/>
            <a:ext cx="288036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4408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RateLimitError → backoff. 500 → retry. 4xx → don't retry.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971800"/>
            <a:ext cx="2880360" cy="1554480"/>
          </a:xfrm>
          <a:prstGeom prst="rect">
            <a:avLst/>
          </a:prstGeom>
          <a:solidFill>
            <a:srgbClr val="0F1F3D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63056" y="2971800"/>
            <a:ext cx="2880360" cy="29260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33192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keys. Log usage tokens. Use Haiku for dev.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7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COMPLETE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Large Language Models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L01: 70-year NLP history → transformers were inevitable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L02: Q/K/V attention + multi-head + PE + FFN + residuals = transformer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L03: Scaling laws + GPT lineage + Claude model family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L04: RLHF → Constitutional AI → RLAIF — alignment at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L05: 200K context, vision, tool use, HHH behaviour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L06: BPE tokenisation, temperature/top-p/top-k sampling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L07: Anthropic SDK — messages, streaming, error handling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2 — Prompt Engineering &amp; Advanced Techniques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&amp; FastText — Beyond Word2Vec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(Stanford, 2014): factorises global co-occurrence matrix X where Xij = times word j in context of 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loss trains word vectors so wTi wj + bi + bj approximates log(Xij)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(Facebook 2016): word = sum of character n-gram embeddings (subword model)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example: "playing" splits into &lt;pla, lay, ayi, yin, ing, ng&gt; each with own embedding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advantage: produces embedding for unseen words via subword composition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of all static embeddings: one vector per word regardless of context (polysemy problem)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7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— Contextual Embeddings (2018)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= Embeddings from Language Models (AllenNLP, Peters et al. 2018)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2-layer bidirectional LSTM trained as language model on 1 billion words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representation = weighted sum of ALL LSTM layers, not just the last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LSTM layers capture syntax (POS, chunks); upper layers capture semantics (word sense)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 near "river" gets a different ELMo vector than "bank" near "loan" - context-sensitive!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state-of-the-art on 6 out of 7 NLP benchmarks in 2018; proved contextual reps 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7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Task Taxonomy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classification: POS tagging (The/DT cat/NN), Named Entity Recognition (Apple/ORG London/LOC)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classification: sentiment analysis (positive/negative), intent detection, topic classification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Sequence-to-sequence: machine translation, abstractive summarisation, question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extraction: reading comprehension — extract exact answer span from passage given a question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modelling: P(wn|w1...wn-1) — the universal pre-training objective for GPT-style models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Coreference resolution: "She hit John. He fell." — determine He refers to John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7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vs RNN: Head-to-Head Comparison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steps: RNN = O(n) sequential (cannot parallelise). Transformer = O(1) sequential (fully parallel)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between positions: RNN = O(n) hops through hidden states. Transformer = O(1) direct attention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speed: Transformer approximately 10x faster than LSTM on same hardware due to full parallelism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cost: Transformer O(n squared x d) per layer. RNN O(n x d). Quadratic is the price for O(1) paths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dependencies: RNN gradient vanishes over n steps. Transformer attends to any position directly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Transformer scales smoothly to billions of params; RNNs become numerically unstable above ~500M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7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vs Decoder-Only vs Encoder-Decoder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Encoder-only: BERT, RoBERTa, ELECTRA, DeBERTa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Decoder-only: GPT series, Claude, LLaMA, Mistral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Encoder-Decoder: T5, BART, original Transformer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Mixture-of-Experts: Mixtral 8x7B, Switch Transformer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Models: Mamba (linear sequence length)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classification, NER, Q&amp;A, semantic search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text generation, dialogue, code completion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Enc-Dec: translation, summarisation, seq2seq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MoE: large capacity at lower active compute cost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SSM: very long sequences where O(n^2) is too slow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7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Transformer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— Making O(n squared) Practical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solidFill>
            <a:srgbClr val="1A0A2E"/>
          </a:solidFill>
          <a:ln w="25400">
            <a:solidFill>
              <a:srgbClr val="0A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Attn: O(n squared x d) memory    Flash Attn: O(n x d) memory, same FLOPs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standard attention materialises the full n x n attention matrix in GPU HBM (slow memory)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(Dao et al. 2022): tile the computation to fit in SRAM (fast memory) without writing nxn matrix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same mathematical output, same O(n squared) FLOPs, but 3x faster and 10x less memory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2 (2023): further 2x speedup via better GPU thread parallelism and fewer non-matmul FLOPs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Attention 3 (2024): exploits H100 hardware features (FP8, asynchronous pipelines)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Claude 3, GPT-4, LLaMA 2/3, Mistral, Gemini — essentially every modern LLM training run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Ecosystem (2023-2024)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(Meta, Feb 2023): 7B-65B params. Weights leaked, igniting the open-source LLM revolution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(Jul 2023): officially released for research and commercial use. RLHF-tuned chat variants included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(Sep 2023): outperforms LLaMA 2 13B on most benchmarks. Grouped-query attention + sliding window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 8x7B: MoE architecture, 8 experts per layer, 2 active per token. 47B total, 12.9B active params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(2024): 8B + 70B + 405B variants. Strong multilingual support. 128K context window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locally: 7B model at 4-bit quantisation fits in 4GB VRAM. Can run on a MacBook M2 or gaming GPU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7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LoRA and QLoRA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fine-tuning: update all N parameters. Best quality but same GPU cost as pre-training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(Hu et al. 2021): freeze W0, add delta-W = A times B where rank r is much less than 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example: r=8 on GPT-3 (175B) means only 4.7M trainable params instead of 175B. 37,000x fewer!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formula: W_new = W0 + alpha times (A times B) where A and B are the only trained matrices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(2023): quantise base model to 4-bit NF4 format, add 16-bit LoRA adapters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result: fine-tune 65B LLaMA on a single 48GB GPU, previously needed 8x80GB A100s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problem: LLMs have a fixed knowledge cutoff and no access to private or recent documents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(1) embed query, (2) retrieve top-k similar chunks from vector store, (3) include in prompt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options: FAISS (Meta), Pinecone, Weaviate, ChromaDB — store and search over embeddings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model: text-embedding-3-small (OpenAI) or voyage-2 (Anthropic) produce dense float vectors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prompt structure: system=RAG instructions, user=retrieved chunks + original question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fine-tuning: RAG = real-time retrieval, auditable sources; fine-tuning = baked-in knowledge, no retrieval cost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7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Benchmarks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MMLU: 14,000 multiple-choice questions across 57 subjects. Measures breadth of world knowledge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HumanEval: 164 Python programming problems. Measures code generation. Pass@k metric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GSM8K: 8,500 grade-school math word problems requiring multi-step arithmetic reasoning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TruthfulQA: 817 questions that humans often answer wrongly due to misconceptions. Measures calibration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BIG-Bench: 204 diverse tasks beyond standard NLP. Reveals emergent vs non-emergent abilities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MT-Bench: 80 multi-turn conversation questions judged by GPT-4. Best proxy for chat UX quality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7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Safety: Key Threat Models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Misuse: bad actors using capable AI to automate cyberattacks, generate disinformation, or assist CBRN research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Accidents: well-intentioned AI pursues proxy objective harmfully (reward hacking, specification gaming)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Sycophancy: model prioritises user approval over truth, agreeing with wrong statements to seem helpful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risk: AI embedded in critical systems developing misaligned optimisation targets over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 alignment (hypothetical): appears aligned in training, behaves differently in deployment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directly targets misuse (refusal principles), sycophancy (honesty principles), and accidents (critique-revision)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7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HHH: Operationalising Claude Values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substantive value, not watered-down answers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tasks fully without unnecessary hedging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technical level to the user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clarification only when genuinely ambiguous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mention relevant info not explicitly asked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+ Honest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requests that enable real-world harm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reasoned refusals with offered alternatives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calibrated uncertainty honestly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claim to be human if sincerely asked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position under social pressure alone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7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Constitutional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Red-Teaming: Stress Testing Safety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team: dedicated group attempting to elicit harmful or policy-violating responses from the 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red-teaming: humans craft creative jailbreaks — roleplay bypass, indirect requests, multilingual tricks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red-teaming: a separate LLM generates thousands of adversarial prompts per hour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more capable models are harder to jailbreak AND more dangerous if successfully jailbreaked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effect: Claude models reject harmful prompts more consistently with more nuanced reasoning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must be continuous — new attack vectors emerge as models, users, and use cases evolve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7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Use Cases: Claude as an Autonomous Agent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loop: Claude selects action, tool executes, result returned, Claude decides next step, repeat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agent: write code, run tests, read error output, debug, iterate — without human in the loop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agent: search web, read pages, synthesise findings, generate citations, write final report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 (Claude 3.5): control mouse and keyboard, browse web, interact with desktop GUIs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systems: orchestrator Claude delegates sub-tasks to specialist Claude instances via tool calls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caveat: agentic mistakes can be hard to reverse — Claude applies extra caution in long agent chains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7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Best Practices for Claude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"Write 200-word explanation of transformers for 3rd-year CS student" beats "explain transformers"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XML tags: wrap context in &lt;document&gt; tags, questions in &lt;question&gt; tags — Claude was trained on XML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set persona, constraints, and output format once for the entire conversation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Chain-of-thought: adding "Think step by step" before the answer forces intermediate reasoning steps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constraints work well: "Do not use bullet points. Do not include code." Claude follows these reliably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examples: 2-3 input/output pairs in prompt produces consistent format compliance (JSON, tables)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7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vs GPT-4: Practical Comparison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with explicit principles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 window on Sonnet and Opus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long-document reasoning performance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thorough explanations by default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nuanced ethical reasoning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coding and technical analysis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(OpenAI)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RLHF-based alignment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context window (GPT-4 Turbo)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 (Python sandbox in chat)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available via API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ChatGPT plugin ecosystem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widely benchmarked model publicly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7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Quirks Developers Must Know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sensitivity: "hello" and "Hello" and "HELLO" may each be different tokens — matters for prompts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spaces: " hello" with a leading space is often a different token from "hello" without 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split unpredictably: "2024" = 1 token, but "20240528" may tokenise as three separate tokens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penalty: Chinese or Japanese roughly 1 character per token vs 4 chars per token in English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accurately: use anthropic SDK count_tokens() or tiktoken library, never estimate from character count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risk: crafted strings can manipulate tokenisation to confuse instruction following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7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Strategies Compared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(T=0): always pick the top token. Deterministic. Fast. Repetitive for open-ended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(B=4): maintain 4 partial sequences, expand all, keep best 4. More optimal but slower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 weakness: generic output at high B values; repetition loops; B times compute cost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sampling (T=1.0): pure random draw from the distribution. Diverse but potentially incoherent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with temperature: practical default. Filter to k candidates, then sample with temperature 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(nucleus) with temperature: more adaptive than top-k — nucleus size adjusts to model confidence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Tokenisation &amp; Sampling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0A7C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Optimisation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" cy="3474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Patterns to Avoid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Re-sending full document every turn in chat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system prompts for simple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verbose CoT reasoning unnecessarily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Opus model when Haiku would suffice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max_tokens cap allowing runaway outputs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images when thumbnail works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Cost-Reduction Strategies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for repeated context (90% savings)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task complexity: Haiku vs Sonnet vs Opus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conversation history every N turns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tight max_tokens per use-case type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concurrent requests with async client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only needed data before LLM call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7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Calls for Production Throughput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sequential API calls waste time — 3 calls at 2s each = 6s total sequentially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AsyncAnthropic client with asyncio.gather() runs all calls concurrently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same 3 calls take approximately 2s total — limited by the slowest single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pattern: create AsyncAnthropic() client, define async def one_call(prompt), gather all coroutines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batch processing — summarise 100 documents in parallel vs 100 sequential calls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note: concurrent calls still count against your tokens-per-minute limit — add semaphore if needed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7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Caching: 90% Cost Reduction on Repeated Context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Anthropic caches frequently used prompt prefixes server-side for up to 5 minutes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use case: same large system prompt or document sent with many different user questions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enable: add cache_control: {type: "ephemeral"} to the content block to be cached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structure: first call at full price, subsequent calls within 5 min at 10% of input token price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100K-token legal contract + 1000 different queries = full price once, 10% price 999 times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invalidation: any single character difference in the prefix creates a complete cache miss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7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Lab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Integration Checklist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API key always from environment variable. Never hardcode. Use .env file plus python-dotenv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Resilience: catch RateLimitError with exponential backoff, catch 5xx with retry, raise on 4xx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control: set max_tokens on every call. Log input and output token counts for billing tracking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validation: always check stop_reason. Handle max_tokens (truncated) vs end_turn (complete)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log model, latency, token counts, stop_reason per request for monitoring and debugging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sanitisation: validate and truncate inputs before sending. Reject empty strings and oversized inputs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7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COMPLETE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Large Language Models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L01: 70 years of NLP history — rules, statistics, embeddings, attention, transformers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L02: Q/K/V attention, multi-head, positional encoding, FFN, residuals, Flash Attention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L03: Scaling laws, GPT lineage, open-source ecosystem, LoRA, RAG, benchmarks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L04: RLHF, Constitutional AI, critique-revision loop, RLAIF, red-teaming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L05: 200K context, vision, tool use, agentic loops, HHH behaviour, prompt engineering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L06: BPE tokenisation, temperature, top-p, top-k, decoding strategies, cost optimisation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L07: Anthropic SDK, messages API, multi-turn, streaming, async, production checklist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2 — Prompt Engineering &amp; Advanced Techniques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History of AI &amp; NLP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Pre-Transformer Architecture Summary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 (1950-1990): handcrafted grammars and lexicons. Brittle, limited to narrow domains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 (1990-2012): n-grams, HMMs, CRFs, SVMs. Data-driven but shallow representations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NLP (2012-2017): RNNs, LSTMs, word embeddings. Deep representations but sequential bottleneck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Transformer (2017-present): parallel, scalable, long-range. Dominant paradigm for all NLP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each era solved the previous eras core limitation and introduced a new 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solved the LSTM sequential bottleneck. Remaining limit: quadratic attention cost vs. length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7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LLM Landscape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F4A83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LLMs: Beyond Text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process and generate across modalities: text, image, audio, video, code, structured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models: GPT-4V, Claude 3, Gemini 1.5 — understand images, charts, screenshots, PDFs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vision encoder (e.g., ViT) maps image to token sequence, concatenated with text tokens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LLMs: Whisper transcription + LLM reasoning. Real-time voice: GPT-4o, Gemini Live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understanding: Gemini 1.5 Pro processes full 1-hour videos at 1M token context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direction: native multimodal training (all modalities during pre-training, not just fine-tuning)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7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3657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LLMs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36576"/>
            <a:ext cx="4389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Claude's Capabilities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0292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4572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API: Key Parameters Reference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8503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"claude-opus-4-5" | "claude-sonnet-4-6" | "claude-haiku-4-5" — choose by cost vs capability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max_tokens: maximum tokens in response. Always set explicitly to control cost and prevent truncation surprises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0.0 to 1.0 (and beyond). 0=deterministic, 0.7=balanced creative, 1.0=maximum variation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top_p: nucleus sampling threshold. 0.9 is a good default for most tasks alongside temperature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string. Sets the assistant persona, constraints, output format for the entire conversation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stop_sequences: list of strings where generation halts. Useful for structured outputs with known terminators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· Generative AI with Claude · Unit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0" y="4873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CSAI601 Unit 1 — Foundations of Large Language Models</dc:title>
  <dc:subject>PptxGenJS Presentation</dc:subject>
  <dc:creator>CSAI601 Course Team</dc:creator>
  <cp:lastModifiedBy>CSAI601 Course Team</cp:lastModifiedBy>
  <cp:revision>1</cp:revision>
  <dcterms:created xsi:type="dcterms:W3CDTF">2026-05-28T16:04:12Z</dcterms:created>
  <dcterms:modified xsi:type="dcterms:W3CDTF">2026-05-28T16:04:12Z</dcterms:modified>
</cp:coreProperties>
</file>