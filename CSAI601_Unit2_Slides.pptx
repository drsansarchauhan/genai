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45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4560"/>
                </a:solidFill>
              </a:rPr>
              <a:t>CSAI601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EDF3"/>
                </a:solidFill>
              </a:rPr>
              <a:t>Generative AI with Claude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C8C"/>
                </a:solidFill>
              </a:rPr>
              <a:t>UNIT 2: PROMPT ENGINEERING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8 Lectures | 8 Hours | CO2 | B.Tech CS/IT 3rd 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10972800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L08: Intro to Prompt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160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L09: Zero-Shot &amp; Few-Shot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L10: Chain-of-Thought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5166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L11: Role, Persona &amp; Tone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L12: Structured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4160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L13: Context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663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L14: Evaluation &amp; Iteration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5166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6EDF3"/>
                </a:solidFill>
              </a:rPr>
              <a:t>L15: Prompt Lab Workshop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Dept. of CS/IT | CO-PO Mapping: CO2-PO1,PO2,PO3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Unit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832"/>
                </a:solidFill>
              </a:rPr>
              <a:t>Unit 2 - Prompt Engineering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566928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What is it?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Crafting inputs to steer LLM behavior without changing model weights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66928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00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Solve 90% of LLM tasks through prompt design alone — no GPU, no fine-tuning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566928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F4A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86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32"/>
                </a:solidFill>
              </a:rPr>
              <a:t>CO mapped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CO2: Design prompts for NLP tasks; evaluate quality; apply chain-of-thought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749040"/>
            <a:ext cx="566928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886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Key outcome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3434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Build production-ready prompts: structured output, persona, reasoning, eval loop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L08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L08: Introduction to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 Engineering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Anatomy - When to prompt vs fine-tune - Principles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What Is Prompt Engineering?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Prompt engineering = crafting inputs to LLMs to elicit desired outputs without modifying weights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Operates entirely at inference time: no training, no GPU, no labelled data required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Spans four concerns: correctness, format, tone, and safety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Scale: a 10-word change in a system prompt can shift output quality by 40% or more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Anatomy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Anatomy of an Effective Prompt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Component 1 INSTRUCTION: What task? Be explicit: classify, summarise, extract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Component 2 CONTEXT: Background info, domain, constraints, prior decisions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Component 3 INPUT DATA: The text or data to operate on - use XML tags to delimit it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Component 4 OUTPUT FORMAT: Exact schema, length, tone, language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Missing any component degrades output - the model guesses what was left implicit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PE vs 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Prompting vs Fine-Tuning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Prompt Engineering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Fine-Tuning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Data 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Zero examples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100s-10000s labelled pairs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API call only (~$0.001)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$100-$10000 depending on 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Time to deploy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Minutes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Days to weeks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Novel reasoning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Excellent via CoT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No improvement over base 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When to 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Start every task here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After prompt engineering plateaus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Principles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Anthropic Prompting Principles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Be specific: Claude performs better with precise, unambiguous instructions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Use XML tags: Claude trained on XML-structured data — tags improve parsing accuracy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Give reasoning room: Think step by step before final answer improves accuracy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Show examples: 2-3 demonstrations outperform long textual explanations every time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Assign a role: Role priming activates relevant knowledge clusters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Iterate systematically: Test on 10+ inputs, categorise failures, fix root cause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Template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4-Component Prompt Example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senior technical writer. [ROLE]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Audience: engineers, 2+ yr Python. [CONTEXT]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&lt;task&gt;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200-word explanation of the GIL.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Include: what it is, why Python has it, one threading impact.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 in 3 numbered paragraphs.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&lt;/task&gt;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&lt;input_data&gt;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Python devs, no CPython internals background.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&lt;/input_data&gt;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XML-tagged inputs improve Claudes parsing accuracy significantly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Failures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Prompt Failure Modes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11430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54864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371600"/>
            <a:ext cx="54864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Vague Instructions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Tell me about Python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Summarise this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Make it better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Help with my 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Specific Instructions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Explain Pythons GIL to a junior dev in 3 bullets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Summarise this review in 2 sentences: pros + cons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Rewrite for C-suite in under 100 words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Find the bug, explain the fix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Prompt Engineering Workflow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Step 1: Define success — write 3 ideal responses before drafting the prompt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Step 2: Write baseline — simplest possible prompt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Step 3: Test on 10 diverse inputs — easy, edge cases, adversarial inputs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Step 4: Categorise failures — hallucination / wrong format / wrong scope / wrong tone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Step 5: Fix root cause — add role, examples, format spec — ONE change at a time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Step 6: Re-test full suite — confirm improvement, no regressions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L08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L08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Prompt = Program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4 components: instruction, context, input, output format. Write all four.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Prompt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Try prompt engineering before fine-tuning. 90% solved at inference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Use XML Tags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Anthropic recommends XML-delimited inputs. Improves parsing, reduces errors.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Iterate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Test 10+ inputs. Categorise failures. Fix root cause. One change at a time.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L09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L09: Zero-Shot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Few-Shot Prompting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Exploiting model priors - Steering with demonstrations - Many-shot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Spectrum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The Prompting Spectrum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Zero-shot: No examples — pure instruction. Relies entirely on pre-training knowledge.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One-shot: A single demonstration to anchor output format or style.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Few-shot (2-8): Multiple input-output pairs. Model generalises pattern to new inputs.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Many-shot (20-500+): Long-context window packed with examples. Near fine-tuning quality.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Practical rule: Always try zero-shot first; add examples only if quality insufficient.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Zero-Shot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Making Zero-Shot Prompts Succeed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Name the task explicitly: Classify / Summarise / Extract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Specify output format: Return a JSON object with fields: name, score, reason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Define the audience: Explain to a high-school student with no statistics background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Set hard constraints: Maximum 3 sentences. No jargon. Active voice.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Assign a role: Act as a senior Python security engineer - identify vulnerabilities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Failures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When Zero-Shot Fails</a:t>
            </a:r>
            <a:endParaRPr lang="en-US" sz="2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Failure Pattern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Root Cause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Wrong output structure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Format not specified precisely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Show exact format in 1-2 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Wrong class label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Label set ambiguous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Define each label + 1 example per class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Wrong tone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Audience not specified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1 demonstration in target tone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Domain errors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Under-represented in training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3-5 domain-specific demonstrations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Few-Shot: Ticket Classification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Classify support tickets into: Billing | Technical | Shipping | Other.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H: "My invoice shows double charge."   A: Billing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H: "App crashes on iOS 17."            A: Technical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H: "Package not delivered in 10 days." A: Shipping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H: "I want to cancel my subscription."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Billing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Claude correctly generalises from 3 demonstrations.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Notice: All 4 classes should appear at least once in demonstrations.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Tip: If you have 4 output classes, show at least one example of each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Designing Good Demonstrations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1 — Cover the output space: Show at least one example per class/label/format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2 — Use realistic inputs: Toy examples generalise poorly to real data distributions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3 — Keep format perfectly consistent: Any deviation leaks into Claudes output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4 — Order by difficulty: Easy cases first, edge cases last (closest to real query)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5 — Label accurately: One wrong label hurts more than having no examples at all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6 — Match domain: Examples from a different domain confuse rather than help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Zero-Shot vs Few-Shot Decision Matrix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11430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54864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371600"/>
            <a:ext cx="54864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Lean Zero-Shot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Common, well-defined task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Free-form prose output is fine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Tight token budget (cost sensitive)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No labelled examples available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Rapid prototyping phase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Task already in training distribution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Lean Few-Shot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Novel or specialised task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Strict schema or format required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Budget allows demonstration overhead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Have 2-20 quality labelled examples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Production system tuning phase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Domain under-represented in training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Format Priming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Format Priming with Demonstrations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demos purely to lock in output structure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"Good laptop but fan is loud."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 decent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pros: [portability, battery]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cons: [fan noise]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6/10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"Best phone I have owned. Camera is stunning."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 excellent all-rounder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pros: [camera, display, build]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cons: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9/10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{{USER_REVIEW}}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Note: Demos teach format here, not task semantics — model already knows sentiment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Many-Shot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Many-Shot Prompting with Long Context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Claude supports 200K token context — enabling 50–500 demonstrations in a single prompt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Anthropic research: Many-shot can match fine-tuning on classification and extraction tasks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No gradient updates needed — quality comes from pattern generalisation in context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Cost trade-off: 200 demos add ~40K tokens per call — significant at scale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of thumb: Under 8 examples = few-shot; above 20 = evaluate if overhead is justified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Bootstrap technique: No data? Ask Claude to generate 10 examples, then use them as demos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L09 —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Zero-Shot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Fast and cheap. Works for common tasks when instruction is crisp and complete.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Few-Shot (2-8)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Locks format and style. Essential when zero-shot produces wrong structure or class.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Many-Shot (20+)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Near fine-tuning quality in 200K context. No training needed.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Bootstrap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No labelled data? Generate examples with Claude first, then use as demonstrations.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L10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L10: Chain-of-Thought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Reasoning Prompts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Zero-shot CoT · Few-shot CoT · Self-consistency · Extended Thinking 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Why CoT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Why Reasoning Prompts Matter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LLMs are next-token predictors — direct answers skip over multi-step reasoning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Without a reasoning buffer, complex problems produce brittle, often wrong answers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Chain-of-Thought (CoT) forces externalised reasoning before committing to a final answer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Wei et al. (2022): Adding "Let us think step by step" boosted GPT-3 math accuracy 17% -&gt; 78%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The reasoning chain itself is auditable — you can spot exactly where logic fails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CoT works on Claude, GPT, Gemini and virtually all large transformer-based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Variants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Chain-of-Thought Variants</a:t>
            </a:r>
            <a:endParaRPr lang="en-US" sz="2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Use 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Zero-shot CoT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Append "Let us think step by step" — no examples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Quick improvement on any reasoning 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Few-shot CoT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Demonstrations include full reasoning chains not just answers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Complex reasoning requiring specific style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Self-consistency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Sample N reasoning paths; majority vote on final answer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High-stakes decisions; reduce variance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Extended Thinking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Claude 3.7+ allocates scratchpad tokens before answering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Hardest reasoning: math, code, planning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Tree-of-Thought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Explore multiple reasoning branches; prune dead ends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Search problems, strategy games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Before/After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Zero-Shot CoT: Before vs After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CoT: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Train A leaves Delhi at 9am at 80 km/h. Train B leaves Mumbai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10am at 100 km/h. Distance: 1400 km. When do they meet?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2:30pm  [WRONG]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"Let us think step by step":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1. In the first hour, Train A covers 80 km. Gap at 10am = 1320 km.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2. Both moving toward each other: closing speed = 80+100 = 180 km/h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3. Time to close 1320 km: 1320/180 = 7.33 h = 7h 20min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4. 10am + 7h 20min = 5:20pm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Answer: 5:20pm  [CORRECT]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The reasoning chain makes errors visible and correctable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Triggers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Effective Zero-Shot CoT Trigger Phrases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"Let us think step by step." — General reasoning, maths, logic; most widely tested trigger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"Walk me through your reasoning." — Analytical tasks, diagnoses, recommendations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"First, identify all relevant facts. Then solve." — Structured problem-solving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"Before answering, list all assumptions and constraints." — Ambiguous problems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"Think out loud." — Creative problem-solving, brainstorming, strategy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"Show your work." — Calculations, proofs, derivations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Few-shot CoT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Few-Shot CoT: Full Example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Roger has 5 balls. He buys 2 cans of 3 balls each. Total?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Roger starts with 5. Buys 2x3=6 more. Total: 5+6=11. Answer: 11.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A juggler has 16 balls. Half are golf balls. Half of those are blue.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How many blue golf balls?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Total: 16. Golf balls: 16/2=8. Blue golf balls: 8/2=4. Answer: 4.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Farmer has 17 sheep. All but 9 die. How many remain?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"All but 9" means 9 survive. Reasoning step: 17 - (17-9) = 9.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Answer: 9.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[YOUR QUESTION]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Design tip: Match chain depth to your target task complexity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Self-Consistency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Self-Consistency in Python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anthropic, 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"What is 17% of 340? Let us think step by step."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range(5):  # sample 5 reasoning paths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model="claude-opus-4-5",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max_tokens=300,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messages=[{"role":"user","content": question}]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nums = re.findall(r"\d+\.?\d*", r.content[0].text)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nums: answers.append(nums[-1])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Counter(answers).most_common(1)[0][0]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print("Majority answer:", final)  # 57.8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Self-consistency improves accuracy 5-15% on arithmetic/logic benchmarks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Extended Thinking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Extended Thinking API (Claude 3.7+)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model="claude-sonnet-4-5",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max_tokens=16000,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thinking={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"enabled",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"budget_tokens": 10000   # scratchpad allocation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messages=[{"role":"user","content":"Solve this..."}]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response.content: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block.type == "thinking":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print("Scratchpad:", block.thinking)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block.type == "text":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print("Final answer:", block.text)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Use for: hard math, competitive coding, long-horizon planning, scientific reasoning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PREP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The PREP Reasoning Framework</a:t>
            </a:r>
            <a:endParaRPr lang="en-US" sz="2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Instruction to Claude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 — Problem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Restate the problem in your own words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Confirms correct understanding before solving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 — Relevant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List all known quantities and constraints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Surfaces hidden assumptions and edge cases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 — Execution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Solve step by step, showing each operation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Creates auditable reasoning chain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 — Plausibility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Sanity-check the answer against intuition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Catches arithmetic errors and wrong units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When CoT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When CoT Helps Most vs. Least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CoT helps most: Multi-step arithmetic, logical deduction, planning, causal reasoning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CoT helps most: Code generation with complex requirements, scientific problem-solving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CoT helps less: Simple factual recall ("What is the capital of France?")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CoT helps less: Creative writing tasks where reasoning chain disrupts narrative flow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CoT can hurt: If the reasoning chain leads the model down a wrong path confidently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Mitigation: Self-consistency (sample 5+ paths) reduces confident-wrong-answer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L10 —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Zero-Shot CoT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"Think step by step" unlocks latent reasoning. Works across all major LLMs.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Few-Shot CoT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Show reasoning chains in demos. Model mimics both depth and style.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Self-Consistency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Sample N paths, take majority vote. +5-15% accuracy. Reduces variance.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Extended Thinking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Claude 3.7 built-in scratchpad. Best for hardest reasoning. ~3x token cost.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L11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L11: Role, Persona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Tone Control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Shaping identity · Calibrating tone · Audience targeting · Multi-turn consistency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39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Roles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Why Role Assignment Works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Assigning a role activates a cluster of knowledge, vocabulary, and communication norms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 senior cardiologist and a high-school teacher explain "cardiac risk" structurally differently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Role priming shifts default register, vocabulary, hedging, and emphasis automatically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More specific roles outperform generic ones: "senior Python security engineer" &gt; "programmer"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Stack roles for precision: "UX designer with behavioural psychology background"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Limit: Claude will not maintain roles that conflict with its values and safety guidelines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Categories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Role Categories &amp; Effects</a:t>
            </a:r>
            <a:endParaRPr lang="en-US" sz="2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 Roles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Effect on Output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Professional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Doctor, lawyer, data scientist, teacher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Domain vocabulary, communication norms, epistemic standards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Creative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Novelist, screenwriter, copywriter, poet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Narrative voice, stylistic choices, creative latitude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Functional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Devil's advocate, fact-checker, critic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Evaluation lens, adversarial or corrective framing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Audience-based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"Explain as if to a 5-year-old"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Simplification, analogy-heavy, no assumed prior knowledge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Hybrid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"Security engineer + technical writer"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Precise technical content in accessible prose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Persona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Building a Full Persona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Priya, a senior data scientist at a B2B SaaS company.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- 8 years experience in ML, specialising in churn prediction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Direct communication — no filler phrases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 concrete numbers over vague adjectives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Expertise: Python, SQL, scikit-learn, XGBoost, Spark, Salesforce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rules: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Ask for business context before going technical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When uncertain, say so explicitly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Offer 2-3 options with trade-offs, never a single answer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marketing language ("game-changing", "synergy")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Recommend paid tools when free alternatives exist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Persona = Identity + Expertise + Communication Rules + Constraints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Tone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Tone Dimensions You Can Control</a:t>
            </a:r>
            <a:endParaRPr lang="en-US" sz="2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to Specify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Formality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Casual -&gt; Professional -&gt; Academic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"Write in a casual Slack-message tone"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Brevity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Terse -&gt; Balanced -&gt; Expansive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"Be concise. Max 3 sentences per response."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Hedging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Confident -&gt; Cautious -&gt; Neutral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"State conclusions directly. No hedging."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Empathy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Clinical -&gt; Warm -&gt; Supportive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"Acknowledge frustration before solving."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Technical depth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Lay -&gt; Intermediate -&gt; Expert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"Assume CS degree, no ML background."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Layered Tone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Layered Tone Specification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customer support responses with: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Tone:      warm, empathetic, professional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Formality: semi-formal (no slang; contractions allowed)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    3-5 sentences maximum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(always follow):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Sentence 1: acknowledge the specific issue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Sentences 2-3: provide the solution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sentence: warm closing with next step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Forbidden phrases: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"I understand your frustration" (overused)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"No problem!" (too casual)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"As per my last email" (passive-aggressive)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"Going forward" (corporate jargon)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Forbidden phrase lists are often more robust than positive tone descriptions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Audience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Audience Calibration Guide</a:t>
            </a:r>
            <a:endParaRPr lang="en-US" sz="2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Audience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Prompt Modifier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Changes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5-year-old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"Explain like I am 5"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Simple words, analogies, no jargon, short sentences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Domain expert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"Assume PhD-level background in X"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Technical depth, field-specific terms, dense information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C-suite executive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"2-minute read; business impact only"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Strategic framing, ROI focus, no implementation details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Journalist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"Educated general reader; no assumed prior"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Clear prose, concrete examples, no unexplained acronyms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Developer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"Technical audience; include code examples"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Code-first, concise explanation, links to documentation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Multi-turn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Maintaining Persona Across Turns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Technique 1 — System prompt anchoring: Full persona definition persists across all turns automatically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Technique 2 — Explicit reminders: Append "Respond as Priya" to user turns in long conversations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Technique 3 — Negative constraints: "Do not break character" + list of forbidden behaviors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Technique 4 — Example exchanges: Include 2 sample Q&amp;A turns inside the system prompt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Watch for: Persona drift after 10+ turns — restate key constraints in the user message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Ethics boundary: Claude will not maintain personas designed to circumvent safety guidelines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Good vs Poor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Good vs. Poor Persona Design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11430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54864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371600"/>
            <a:ext cx="54864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Poor Persona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You are an AI assistant.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Be helpful and friendly.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Answer questions accurately.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[Too vague — no real constraint. Claude defaults to generic responses. Persona adds no value.]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Strong Persona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You are Arjun, a Level 1 API support specialist.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- Max 100 words per 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- Always number your steps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- Never guess at root cause; ask one clarifying question if uncertain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- Escalate with ticket TKT-XXXXX if unresolved in 2 exchanges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[Specific constraints that actually shape output differently from default]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L11 —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Role Assignment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Activates knowledge clusters. Stack roles for precision (domain + function).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Persona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Identity + expertise + communication rules + constraints = stable character.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Tone Control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Formality, brevity, hedging, empathy, depth — all specifiable and combinable.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Audience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Matching content complexity to the reader is the highest-leverage single edit.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L12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L12: Structured Output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Format Control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JSON · XML · Schema enforcement · Length control · Production pipelines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51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Why Format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Why Format Matters in Production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In production, Claude output rarely goes to a human directly — it feeds downstream systems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Databases, APIs, UI renderers, workflow automations all need consistent, parseable output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If format is inconsistent, the whole pipeline breaks regardless of content quality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Structured output prompting = making Claude produce exactly what your downstream expects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The golden rule: Any system that parses Claudes output programmatically must specify format explicitly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Never rely on implicit formatting — what works 95% of the time fails 5% and breaks your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JSON Techniques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Three Techniques to Enforce JSON Output</a:t>
            </a:r>
            <a:endParaRPr lang="en-US" sz="2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Reliability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Explicit schema instruction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Paste the JSON schema in the prompt; say "Return ONLY valid JSON"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Good — 90-95%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Seed the assistant turn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Start the assistant turn with "{" to force JSON opening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Better — 95-98%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System prompt 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System: "You output only valid JSON. No extra text."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Best — 97-99%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Validation + retry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Catch json.JSONDecodeError; feed error back; retry up to 3 times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Near 100%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JSON Schema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JSON Output with Schema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output only valid JSON. No extra text, no code fences.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string,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"YYYY-MM-DD",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number,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"currency": "USD"|"EUR"|"INR"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"Received payment of Rs.5000 from Amit on 12 March 2025."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{"name":"Amit","date":"2025-03-12","amount":5000,"currency":"INR"}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Always validate immediately with json.loads() — do not assume success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Pydantic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Pydantic Validation + Retry Pattern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ValidationError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anthropic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int          # 1-5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tags: list[str]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extract_ticket(text: str, retries: int = 3) -&gt; Ticket: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range(retries):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model="claude-opus-4-5", max_tokens=300,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system="Output only valid JSON matching the Ticket schema.",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messages=[{"role":"user","content": text}]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Ticket(**json.loads(r.content[0].text))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(json.JSONDecodeError, ValidationError) as 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attempt == retries - 1: raise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 = f"Error: {e}. Retry.\n{text}"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Feeding the error message back to Claude lets it self-correct on retry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XML/Custom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XML and Custom Delimited Formats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XML structure for nested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in this exact XML: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&lt;analysis&gt;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&lt;sentiment&gt;positive|negative|neutral&lt;/sentiment&gt;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&lt;confidence&gt;0.0 to 1.0&lt;/confidence&gt;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&lt;reasons&gt;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&lt;reason&gt;TEXT&lt;/reason&gt;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&lt;/reasons&gt;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&lt;/analysis&gt;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 pipe-delimited for ETL: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each finding on a new line: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SEVERITY|COMPONENT|DESCRIPTION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HIGH|AuthService|JWT tokens are not expiring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XML suits nested/hierarchical data; pipe-delimited suits tabular ETL pipelines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Length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Length &amp; Density Control Techniques</a:t>
            </a:r>
            <a:endParaRPr lang="en-US" sz="21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Control 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Instruction Pattern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Hard word limit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"In exactly N words"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"Summarise in exactly 50 words."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Sentence count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"In N sentences"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"Explain in 3 sentences."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Bullet count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"List exactly N points"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"Give exactly 5 action items."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Section spec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Per-section length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"Intro: 2 sentences. Body: 4 paragraphs. Summary: 1 sentence."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Format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Named format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"Return a 2-column markdown table with headers: Pros | Cons"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57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Principles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Output Format Design Principles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Principle 1: The simpler the format, the more reliably Claude produces it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Principle 2: Show the exact template — do not just describe it in words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Principle 3: Add "Do not include any text before or after the [FORMAT]" to suppress preamble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Principle 4: For hard character limits (SMS, tweet) always validate programmatically and retry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Principle 5: Seeding the assistant turn (prefilling) is the single most reliable format lock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Principle 6: Use Pydantic or jsonschema to validate — never trust Claude 100% in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58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L12 —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{}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JSON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Explicit schema + seed assistant turn. Always validate with Pydantic.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XML / Custom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Show the exact template. XML for nested; delimited for tabular.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Length Control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Word/sentence/bullet counts. Hard limits need programmatic validation.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Retry 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Catch parse errors. Feed error back to Claude. 3 retries = near 100%.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62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L13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L13: Context Management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Long Conversations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200K token window · Lost in the middle · Summarisation · Map-reduce chunking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63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Window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Understanding the Context Window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Context window = total tokens Claude sees at once: system prompt + history + current message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Claude Sonnet/Opus 4 supports 200K tokens — roughly 600 pages or a 150,000-word novel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Tokens are consumed by: system prompt, conversation history, documents, and current query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Output tokens are separate — each response adds to input cost on the next call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The "Lost in the Middle" problem: LLMs recall start and end of context most reliably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Design implication: Place critical instructions in system prompt AND immediately before the question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64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Context Management Strategies</a:t>
            </a:r>
            <a:endParaRPr lang="en-US" sz="21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Sliding window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Keep only the N most recent turns; drop oldest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Simple chat; OK to lose early context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Summarisation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Periodically compress history into a summary; replace raw turns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Long conversations where key facts matter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RAG (retrieval)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Store turns in vector DB; retrieve top-K relevant turns per query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Knowledge-intensive, long-lived agents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Hierarchical memory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Working memory + episodic (summaries) + semantic (facts)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Full AI assistant with persistent state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Map-reduce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Process each chunk independently; combine results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Long document analysis and summarisation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65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Summarisation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Sliding Window + Auto-Summarisation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MAX_TURNS = 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summarise(history):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model="claude-haiku-4-5-20251001", max_tokens=500,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messages=[*history,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{"role":"user","content": "Summarise: decisions made, facts, open questions."}]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r.content[0].text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chat(history, msg):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len(history) &gt; MAX_TURNS * 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summary = summarise(history)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history = [{"role":"assistant",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"content": f"[Summary]\n{summary}"}]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history.append({"role":"user","content": msg})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model="claude-opus-4-5", max_tokens=1000,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history.append({"role":"assistant","content":r.content[0].text})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r.content[0].text,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Use cheap Haiku for summarisation; use Opus/Sonnet for final responses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Chunking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Document Chunking Strategies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Fixed-size chunks: Split every N tokens with overlap — good for vector search / embedding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Semantic chunks: Split at paragraph/section boundaries — good for Q&amp;A and summarisation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Hierarchical: Chapter -&gt; section -&gt; paragraph levels — good for long-form document analysis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Map-reduce: Process each chunk independently, then combine results — good for extraction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Sliding window: Overlapping chunks (e.g., 500 tokens, 100 overlap) — when context spans boundaries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Key parameter: Chunk overlap prevents information loss at boundaries (typically 10-20% overlap)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67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Map-Reduce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Map-Reduce Summarisation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map_reduce_summarise(text: str, chunk_size: int = 50000)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words = text.split()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chunks = [" ".join(words[i:i+chunk_size])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for i in range(0, len(words), chunk_size)]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Map: summarise each chunk with Haiku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summaries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chunk in chunks: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model="claude-haiku-4-5-20251001", max_tokens=500,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messages=[{"role":"user","content":f"Summarise:\n{chunk}"}]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summaries.append(r.content[0].text)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Reduce: combine with Opus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model="claude-opus-4-5", max_tokens=1000,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messages=[{"role":"user","content":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"Combine these summaries:\n" + "\n\n".join(summaries)}]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r.content[0].text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Cost tip: Use Haiku for map phase (cheap); Opus/Sonnet for reduce phase (quality)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68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System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System Prompt Design for Long Sessions</a:t>
            </a:r>
            <a:endParaRPr lang="en-US" sz="21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5715000"/>
                <a:gridCol w="5715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Avoid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State critical constraints once, clearly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Repeating the same instruction 3x hoping it sticks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Use numbered rules for easy reference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Long paragraph descriptions of behavior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Include examples only when format is non-obvious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Many examples that inflate cost on every 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Define abbreviations and custom terms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Assuming Claude knows your internal terminology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Keep system prompt under 2K tokens if possible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Dumping the entire product documentation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L13 —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200K Window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Large but not infinite. Critical info at top and bottom. Middle is less reliable.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Summarisation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Compress old history. Haiku is cheap for summarisation. Keep episodic memory.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Chunking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Map-reduce for long docs. Semantic chunks for Q&amp;A. Overlap prevents boundary loss.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System Prompt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Under 2K tokens. Numbered rules. Avoid repetition. Define custom terms.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74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L14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L14: Prompt Evaluation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Iteration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Metrics · LLM-as-judge · A/B testing · Versioning · Systematic improvement cycle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75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Why Eval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Why Systematic Evaluation Matters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 prompt that works on 3 test cases may fail on the 4th — intuition alone is unreliable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Prompt improvements by intuition may cause regressions on edge cases you did not test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Goodharts Law: Optimising on a small test set leads to overfitting — hold out a validation set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Without metrics, you cannot know if iteration is improving or degrading quality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Evaluation is the difference between ad-hoc prompting and reliable prompt engineering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Target: define success criteria before writing the first prompt, not after seeing the 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Evaluation Metrics by Task Type</a:t>
            </a:r>
            <a:endParaRPr lang="en-US" sz="21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 / Method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Classification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Accuracy, F1, Confusion Matrix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sklearn + labelled test 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Extraction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Exact match, Partial match, 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String matching + normalisation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Summarisation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ROUGE-L, BERTScore, Human eval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evaluate library or LLM-as-judge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Generation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Human rating 1-5, LLM-as-judge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Claude grading Claude outputs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Format compliance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Parse success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json.loads() + Pydantic validation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Cost / Latency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p50/p95 ms, $/1000 requests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Usage API + timing instrumentation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LLM-Judge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LLM-as-Judge Pattern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EVAL_PROMPT =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"You are an expert evaluator.\n"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"Task: {task}\nResponse: {response}\n\n"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 1-5: accuracy, completeness, clarity, format.\n"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"Return ONLY JSON: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'{{"accuracy":N,"completeness":N,"clarity":N,"format":N,'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'"overall":N,"critique":"one sentence"}}'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evaluate(task: str, response: str) -&gt; dict: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model="claude-haiku-4-5-20251001",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max_tokens=200,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"content": EVAL_PROMPT.format(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task=task, response=response)}]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json.loads(r.content[0].text)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Use Haiku as judge — cheap, fast, surprisingly accurate on well-defined rubrics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78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A/B Test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A/B Prompt Comparison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compare(prompt_a, prompt_b, test_cases, n_trials=3):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{"A": [], "B": []}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case in test_cases: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prompt, label in [(prompt_a,"A"),(prompt_b,"B")]: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scores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_ in range(n_trials):   # multiple trials = lower variance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 =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model="claude-opus-4-5", max_tokens=500,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messages=[{"role":"user",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"content":prompt.format(**case)}]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 = evaluate(case["task"],r.content[0].text)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scores.append(s["overall"])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results[label].append(sum(scores)/len(scores))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a_mean = sum(results["A"])/len(results["A"])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b_mean = sum(results["B"])/len(results["B"])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{"A": a_mean, "B": b_mean,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"winner": "A" if a_mean &gt; b_mean else "B"}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Always compare on the SAME test set — different test sets introduce selection bias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79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The Iterative Improvement Cycle</a:t>
            </a:r>
            <a:endParaRPr lang="en-US" sz="21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1. 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Write the simplest first prompt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Initial performance 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2. Failure analysis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Categorise errors on test 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Error taxonomy (5 categories)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3. Hypothesis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Identify which prompt element causes each error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Prioritised change list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4. Intervention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Change ONE element at a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New prompt variant to 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5. Evaluation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Run full test suite on new variant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Delta vs. baseline 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6. Decision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Accept, reject, or combine changes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Updated best prompt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7. Repeat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Until target quality or diminishing returns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Production-ready prompt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Versioning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Prompt Versioning (Git-style)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prompts/ticket_classifier/v3.txt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Changelog: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v1: Basic zero-shot (72% accuracy on 50-case test set)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v2: Added explicit output schema (81% accuracy)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v3: Added 4 few-shot examples, 1 per class (89% accuracy)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suite: tests/ticket_classifier_test.json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eval date: 2025-03-15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 model: claude-opus-4-5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customer support ticket classifier...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[rest of prompt follows]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Rule: Never silently update a production prompt without running the full test suite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Error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Common Error Categories &amp; Fixes</a:t>
            </a:r>
            <a:endParaRPr lang="en-US" sz="21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Error 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Symptom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Hallucination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Invented facts not in the input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Add: "Only use information provided. Do not infer."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Format deviation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Wrong structure or missing fields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Show exact template + add Pydantic validation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Scope creep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Answers beyond the requested 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Add: "Answer only what is asked. Nothing else."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Truncation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Response cut off before completion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Increase max_tokens; add "Complete the full response."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Refusal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Unnecessary safety trigger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 context explaining the legitimate use case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82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L14 — Key Takeaways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Metrics First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Define success before writing the first prompt. Choose metrics that match the task.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LLM-as-Judge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Scale evaluation with Haiku grading outputs. Works when ground truth unavailable.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A/B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Same test set. Multiple trials. Change one thing at a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Version Control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Prompts are code. Git-track with performance metadata alongside each version.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C"/>
                </a:solidFill>
              </a:rPr>
              <a:t>L15 of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L15: Workshop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 Optimisation Lab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Hands-on practice: write, test, analyse, iterate · Three real-world challenges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0" y="5943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87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Lab Overview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This workshop consolidates all Unit 2 techniques in a structured 60-minute lab session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Three progressively complex challenges covering different technique combinations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Lab A: Sentiment classifier with structured JSON output — target 95%+ accuracy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Lab B: Contract risk extraction — identify and score clauses with chain-of-thought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Lab C: Persona-driven support agent — tone, format, escalation rules combined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Full cycle: write baseline -&gt; measure -&gt; analyse failures -&gt; iterate -&gt; verify improvement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Lab A Setup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Lab A: Sentiment Classifier — Baseline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with this minimal prompt (intentionally weak)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= "Classify the sentiment of this text: {text}"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 output schema: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"label": "positive"|"negative"|"neutral"|"mixed",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"confidence": 0.0 to 1.0,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"aspects": [{"aspect": str, "sentiment": "pos"|"neg"|"neu"}],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"explanation": "one sentence"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cases (expected labels):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"Great product, terrible shipping!"  -&gt; mixed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"The battery lasts all day."         -&gt; positive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"Item arrived. Works."              -&gt; neutral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"Completely broken, never buying again." -&gt; negative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"Love the design but software is buggy." -&gt; mixed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Run the baseline first — observe where it fails before improving anything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Lab A Iter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Lab A — Iteration Guide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Iteration 1: Add explicit output schema (JSON with all fields) — expect +10% accuracy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Iteration 2: Define "mixed" explicitly — "Use mixed when text contains both pos and neg aspects"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Iteration 3: Add 1 few-shot example per label (4 demos total) — expect +15% accuracy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Iteration 4: Seed the assistant turn with "{" to prevent JSON parsing errors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Iteration 5: Add Pydantic validation with retry loop — should reach near 100% format compliance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Target: 95%+ label accuracy + 100% valid JSON. Log each iteration score.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90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Lab 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Lab B: Contract Risk Extraction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legal risk analyst. Identify risks for the CLIENT.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 JSON array. Each element: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"clause_text": "exact quote from contract",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"HIGH"|"MEDIUM"|"LOW",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"risk_category": "Liability"|"IP"|"Payment"|"Termination"|"Other",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"explanation": "1-2 sentence plain English explanation",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"suggested_fix": "brief mitigation suggestion"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clause: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Client grants the Vendor a perpetual, irrevocable, worldwide,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royalty-free license to use, reproduce, modify, and distribute 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provided by the Client, including the right to sublicense."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Expected: HIGH risk, IP category — perpetual + irrevocable + sublicense = severe IP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91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Lab 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Lab C: Technical Support Persona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14300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Aria, Level 1 support specialist for CloudStore.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format (always follow exactly):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[ISSUE IDENTIFIED]: one-sentence restatement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[STEPS TO TRY]: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[EXPECTED OUTCOME]: what user should see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[ESCALATE IF]: when to contact L2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Maximum 150 words per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speculate about hardware failures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End with: "Did that help? [YES] / [NO]"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NO: create ticket TKT-{random 5 digits}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Forbidden: "Great question!" "Absolutely!" "As per my last email"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Test: submit "tried everything, nothing works" — should trigger immediate escalation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92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Debrief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Lab Debrief: Common Findings &amp; Fixes</a:t>
            </a:r>
            <a:endParaRPr lang="en-US" sz="21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Root Cause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Wrong "mixed" label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No definition of "mixed" provided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 definition + 1-2 few-shot mixed 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JSON missing fields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Schema listed as "optional" implicitly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Mark all fields required; allow null explicitly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Aria says "Absolutely!"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Negative constraint not specific enough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 exact forbidden phrase list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All risks scored 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No calibration between risk levels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 1 example each for HIGH, MEDIUM, LOW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Response exceeds 150 words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Word limit instruction too soft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Add: "Count words. Revise if over 150."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JSON parse error on retry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Error message not clear enough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Feed exact error + location to Claude on retry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93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Checklist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Unit 2 Capability Checklist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 can write zero-shot and few-shot prompts appropriate to any task type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 can apply chain-of-thought triggers and use the extended thinking API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 can design stable, multi-turn personas with tone and communication constraints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 can enforce JSON, XML, and custom output schemas with validation and retry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 can manage long conversations using summarisation and map-reduce chunking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I can measure prompt quality, run A/B tests, and iterate systematically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94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Unit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Unit 2 Mastery — Complete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Zero &amp; Few-Shot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Right demo strategy for any task type and data availability.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Chain-of-Thought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Step-by-step reasoning for complex problems. Extended thinking for hardest tasks.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Persona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Stable multi-turn characters with controlled tone and communication rules.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{}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Structured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Schema-validated JSON/XML for downstream systems. Retry with error feedback.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1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Context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1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Summarisation, chunking, hierarchical memory for long sessions.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8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2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Eval &amp; Iteration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2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Metrics, LLM-as-judge, A/B testing, version control for production prompts.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100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Many-Shot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Many-Shot &amp; Bootstrap Techniques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Claude 200K context enables 50-500 demonstrations in a single prompt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Many-shot quality approaches fine-tuning for narrow classification and extraction tasks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Cost trade-off: 200 demos add ~40K tokens per call — significant at API scale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Rule of thumb: below 8 examples = few-shot; above 20 = evaluate cost vs quality gain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Bootstrap: no data? Ask Claude to generate 10 examples, then use them as demonstrations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Self-generated examples work surprisingly well for rapid prototyping without a labelled 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L09 |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Zero-Shot vs Few-Shot: Decision Guide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Use zero-shot when: task is common and well-defined, free-form output is acceptable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Use zero-shot when: token budget is tight or you are in rapid prototyping phase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Use few-shot when: task is novel or specialised, strict output schema required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Use few-shot when: you have 2-20 quality labelled examples available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Transition point: if zero-shot scores below your target after 3 iterations, switch to few-shot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Meta-rule: demonstrate the output you want, not just describe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L10 | Patterns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Practical Chain-of-Thought Patterns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1 PREP: Problem restatement, Relevant facts, Execution, Plausibility check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2 Scratchpad: "Use a scratchpad in &lt;thinking&gt; tags before answering"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3 Stepwise: "Number each step. Show all arithmetic. State each assumption."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4 Hypothesis: "Form a hypothesis, test it, revise if wrong, then conclude"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5 Devil's advocate: "Argue both sides before giving your final view"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Choose the pattern that matches the reasoning structure your task requires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L11 | Consistency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Tone Consistency Across Multi-Turn Conversations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Problem: persona drift — Claude gradually shifts away from specified tone after 10+ turns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Root cause: later turns overwrite earlier context; tone specs in system prompt fade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Fix 1: Include 2 sample exchanges in the system prompt to show the target tone concretely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Fix 2: Append short persona reminder to user messages: [Respond as Priya]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Fix 3: List forbidden behaviors explicitly — Claude avoids negatives more reliably than hitting positives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Fix 4: Use lower temperature (0.3-0.5) for persona-critical production applications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L12 | Advanced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Advanced Format Patterns in Production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1 Conditional format: "If confidence &lt; 0.7, include an uncertainty flag field"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2 Nested schemas: use XML for complex nested structures; JSON for flat data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3 Streaming output: when streaming, ensure each chunk is valid partial JSON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4 Format + reasoning: ask for JSON with a "reasoning" field to get auditable output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Pattern 5 Table fallback: if JSON fails 3 retries, fall back to markdown table + parse manually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Always instrument format compliance rate in production — target &gt;99% before shipping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61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L13 | RAG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Retrieval-Augmented Context Management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RAG = store context (documents, past turns, facts) in a vector database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At query time: retrieve top-K most semantically relevant chunks and inject into context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Advantage: unlimited external knowledge without filling the context window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Tools: ChromaDB, Pinecone, Weaviate, pgvector, FAISS for vector storage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Embedding model: text-embedding-3-small (OpenAI) or voyage-2 (Anthropic partner)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Full RAG pipeline: chunk -&gt; embed -&gt; store -&gt; retrieve -&gt; inject -&gt; generate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73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L14 | Test Suite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Building a Prompt Test Suite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Minimum viable test suite: 20 cases — 10 typical, 5 edge cases, 5 adversarial inputs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Coverage matrix: at least 2 examples per output class or schema variant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Golden set: 5-10 cases with human-verified ideal responses for regression testing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Regression test: run full suite on every prompt change before deploying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CI integration: add prompt test suite to your CI pipeline — fail build if accuracy drops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Benchmark cadence: re-evaluate monthly as model versions update (Claude versions change)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L15 | Best Practices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Prompt Engineering Best Practices Checklist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Before writing: define success criteria and build a 20-case test suite first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Structure: always include all 4 components — instruction, context, input, output format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Format: show the exact template you want, seed the assistant turn when possible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Reasoning: add "think step by step" for any task requiring multi-step logic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Validation: Pydantic + retry loop for all structured output in production code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Versioning: git-track every prompt with performance metadata and changelog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95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Unit 2 | Complete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832"/>
                </a:solidFill>
              </a:rPr>
              <a:t>CSAI601 Unit 2 — Complete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Zero &amp; Few-Shot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Right demo strategy for any task. Bootstrap when no data available.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Chain-of-Thought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Step-by-step reasoning. Extended Thinking for hardest tasks.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760" y="137160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146304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2920" y="187452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Persona &amp; Tone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920" y="228600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Stable multi-turn characters with controlled communication rules.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{}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Structured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Schema-validated JSON/XML. Retry with error feedback. Pydantic.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1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Context Mgmt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1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Summarisation, chunking, hierarchical memory, RAG for long sessions.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85760" y="3566160"/>
            <a:ext cx="36728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2920" y="3657600"/>
            <a:ext cx="3398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22920" y="4069080"/>
            <a:ext cx="339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</a:rPr>
              <a:t>Eval &amp; Iteration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22920" y="4480560"/>
            <a:ext cx="3398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Metrics, A/B testing, LLM-as-judge, version control. Treat prompts as code.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100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Unit 2 |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Unit 2 — Key Concepts Review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Prompt anatomy: instruction + context + input data + output format — all 4 always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Zero-shot for common tasks; few-shot when format or domain precision is required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Chain-of-thought: "think step by step" is the single highest-impact zero-cost improvement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Persona = identity + expertise + communication rules + constraints — specify all four layers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Structured output: show the schema, seed the response, validate with Pydantic, retry on error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Context management: summarise history, chunk documents, place critical info at top and bottom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99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CSAI601 | Unit 2: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73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832"/>
                </a:solidFill>
              </a:rPr>
              <a:t>Unit 2 | Next 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CSAI601 | B.Tech CS/IT 3rd 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32"/>
                </a:solidFill>
              </a:rPr>
              <a:t>CO2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A832"/>
                </a:solidFill>
              </a:rPr>
              <a:t>Looking Ahead — Unit 3 Preview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114300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Unit 3: Building Applications with Claude API — connecting prompts to real systems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Topics: API integration, tool use, function calling, streaming responses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Unit 4: Multi-agent systems, memory architectures, and agentic workflows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Unit 5: Responsible AI, safety, evaluation at scale, and deployment best practices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Foundation: every Unit 3-5 concept builds directly on Unit 2 prompt engineering skills</a:t>
            </a:r>
            <a:endParaRPr lang="en-US" sz="1600" dirty="0"/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E6EDF3"/>
                </a:solidFill>
              </a:rPr>
              <a:t>Next step: upload all files to GitHub and continue learning from the lecture notes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5943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CSAI601 Unit 2 - Prompt Engineering</dc:title>
  <dc:subject>PptxGenJS Presentation</dc:subject>
  <dc:creator>PptxGenJS</dc:creator>
  <cp:lastModifiedBy>PptxGenJS</cp:lastModifiedBy>
  <cp:revision>1</cp:revision>
  <dcterms:created xsi:type="dcterms:W3CDTF">2026-05-29T01:41:18Z</dcterms:created>
  <dcterms:modified xsi:type="dcterms:W3CDTF">2026-05-29T01:41:18Z</dcterms:modified>
</cp:coreProperties>
</file>